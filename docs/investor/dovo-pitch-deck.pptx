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6D4A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8070D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M12</c:v>
                  </c:pt>
                  <c:pt idx="1">
                    <c:v>M24</c:v>
                  </c:pt>
                  <c:pt idx="2">
                    <c:v>M36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6900</c:v>
                </c:pt>
                <c:pt idx="1">
                  <c:v>36700</c:v>
                </c:pt>
                <c:pt idx="2">
                  <c:v>109000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8070D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66A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0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66A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4F6"/>
        </a:solidFill>
        <a:ln>
          <a:noFill/>
        </a:ln>
        <a:effectLst/>
      </c:spPr>
    </c:plotArea>
    <c:plotVisOnly val="1"/>
    <c:dispBlanksAs val="span"/>
  </c:chart>
  <c:spPr>
    <a:solidFill>
      <a:srgbClr val="F4F4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2560320"/>
            <a:ext cx="8229600" cy="8229600"/>
          </a:xfrm>
          <a:prstGeom prst="ellipse">
            <a:avLst/>
          </a:prstGeom>
          <a:solidFill>
            <a:srgbClr val="6D4A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1097280"/>
            <a:ext cx="5486400" cy="5486400"/>
          </a:xfrm>
          <a:prstGeom prst="ellipse">
            <a:avLst/>
          </a:prstGeom>
          <a:solidFill>
            <a:srgbClr val="C44A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420624" cy="420624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5" name="Shape 3"/>
          <p:cNvSpPr/>
          <p:nvPr/>
        </p:nvSpPr>
        <p:spPr>
          <a:xfrm>
            <a:off x="1453896" y="868680"/>
            <a:ext cx="420624" cy="420624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spc="-400" kern="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dovo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Hyrox para cualquier disciplina.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40690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50" kern="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Fitness que se juega </a:t>
            </a:r>
            <a:pPr indent="0" marL="0">
              <a:buNone/>
            </a:pPr>
            <a:r>
              <a:rPr lang="en-US" sz="3000" b="1" spc="-50" kern="0" dirty="0">
                <a:solidFill>
                  <a:srgbClr val="8F7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dúo.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77240" y="5715000"/>
            <a:ext cx="10637215" cy="0"/>
          </a:xfrm>
          <a:prstGeom prst="line">
            <a:avLst/>
          </a:prstGeom>
          <a:noFill/>
          <a:ln w="12700">
            <a:solidFill>
              <a:srgbClr val="262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897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PRE-SEED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16575" y="5897880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50" kern="0" dirty="0">
                <a:solidFill>
                  <a:srgbClr val="9A9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México</a:t>
            </a:r>
            <a:pPr algn="r" indent="0" marL="0">
              <a:buNone/>
            </a:pPr>
            <a:r>
              <a:rPr lang="en-US" sz="1200" spc="50" kern="0" dirty="0">
                <a:solidFill>
                  <a:srgbClr val="6A66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algn="r" indent="0" marL="0">
              <a:buNone/>
            </a:pPr>
            <a:r>
              <a:rPr lang="en-US" sz="1200" spc="50" kern="0" dirty="0">
                <a:solidFill>
                  <a:srgbClr val="9A9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pPr algn="r" indent="0" marL="0">
              <a:buNone/>
            </a:pPr>
            <a:r>
              <a:rPr lang="en-US" sz="1200" spc="50" kern="0" dirty="0">
                <a:solidFill>
                  <a:srgbClr val="6A66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algn="r" indent="0" marL="0">
              <a:buNone/>
            </a:pPr>
            <a:r>
              <a:rPr lang="en-US" sz="1200" spc="50" kern="0" dirty="0">
                <a:solidFill>
                  <a:srgbClr val="8F7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dovofit.com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6565392"/>
            <a:ext cx="502920" cy="64008"/>
          </a:xfrm>
          <a:prstGeom prst="rect">
            <a:avLst/>
          </a:prstGeom>
          <a:solidFill>
            <a:srgbClr val="6D4A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4168" y="6565392"/>
            <a:ext cx="502920" cy="64008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911096" y="6565392"/>
            <a:ext cx="502920" cy="64008"/>
          </a:xfrm>
          <a:prstGeom prst="rect">
            <a:avLst/>
          </a:prstGeom>
          <a:solidFill>
            <a:srgbClr val="C44A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478024" y="6565392"/>
            <a:ext cx="502920" cy="64008"/>
          </a:xfrm>
          <a:prstGeom prst="rect">
            <a:avLst/>
          </a:prstGeom>
          <a:solidFill>
            <a:srgbClr val="3AC4D6"/>
          </a:solidFill>
          <a:ln/>
        </p:spPr>
      </p:sp>
      <p:sp>
        <p:nvSpPr>
          <p:cNvPr id="16" name="Shape 14"/>
          <p:cNvSpPr/>
          <p:nvPr/>
        </p:nvSpPr>
        <p:spPr>
          <a:xfrm>
            <a:off x="3044952" y="6565392"/>
            <a:ext cx="502920" cy="64008"/>
          </a:xfrm>
          <a:prstGeom prst="rect">
            <a:avLst/>
          </a:prstGeom>
          <a:solidFill>
            <a:srgbClr val="3AC49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1880" y="6565392"/>
            <a:ext cx="502920" cy="64008"/>
          </a:xfrm>
          <a:prstGeom prst="rect">
            <a:avLst/>
          </a:prstGeom>
          <a:solidFill>
            <a:srgbClr val="AEF03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76656"/>
            <a:ext cx="109728" cy="109728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spc="-100" kern="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adherencia es el producto.
</a:t>
            </a:r>
            <a:pPr indent="0" marL="0">
              <a:lnSpc>
                <a:spcPts val="4400"/>
              </a:lnSpc>
              <a:buNone/>
            </a:pPr>
            <a:r>
              <a:rPr lang="en-US" sz="4000" b="1" spc="-100" kern="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industria la ignora.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4572000" cy="324612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14600"/>
            <a:ext cx="91440" cy="3246120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74320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spc="-300" kern="0" dirty="0">
                <a:solidFill>
                  <a:srgbClr val="FF5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43%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1188720" y="4434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abandona el ejercicio en 12 meses cuando entrena SOLO.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5349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6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Wallace, Raglin &amp; Jastremski, 1995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06440" y="2606040"/>
            <a:ext cx="566928" cy="566928"/>
          </a:xfrm>
          <a:prstGeom prst="ellipse">
            <a:avLst/>
          </a:prstGeom>
          <a:solidFill>
            <a:srgbClr val="1A1530"/>
          </a:solidFill>
          <a:ln w="12700">
            <a:solidFill>
              <a:srgbClr val="26223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2744" y="2752344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83680" y="2560320"/>
            <a:ext cx="4830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adherencia es el verdadero producto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583680" y="2990088"/>
            <a:ext cx="4830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Ninguna feature importa si el usuario deja de abrir la app. Nadie la diseña como prioridad.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806440" y="3703320"/>
            <a:ext cx="566928" cy="566928"/>
          </a:xfrm>
          <a:prstGeom prst="ellipse">
            <a:avLst/>
          </a:prstGeom>
          <a:solidFill>
            <a:srgbClr val="1A1530"/>
          </a:solidFill>
          <a:ln w="12700">
            <a:solidFill>
              <a:srgbClr val="26223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744" y="384962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83680" y="3657600"/>
            <a:ext cx="4830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“social” de los competidores es cosmético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583680" y="4087368"/>
            <a:ext cx="4830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Feeds, kudos y likes. Ruido que no crea un compromiso real entre dos personas.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806440" y="4800600"/>
            <a:ext cx="566928" cy="566928"/>
          </a:xfrm>
          <a:prstGeom prst="ellipse">
            <a:avLst/>
          </a:prstGeom>
          <a:solidFill>
            <a:srgbClr val="1A1530"/>
          </a:solidFill>
          <a:ln w="12700">
            <a:solidFill>
              <a:srgbClr val="26223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44" y="494690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83680" y="4754880"/>
            <a:ext cx="4830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CAC se quema en churn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583680" y="5184648"/>
            <a:ext cx="4830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Adquieres caro, retienes poco. La economía de unidad nunca cierra.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23" name="Shape 18"/>
          <p:cNvSpPr/>
          <p:nvPr/>
        </p:nvSpPr>
        <p:spPr>
          <a:xfrm>
            <a:off x="923544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24" name="Text 19"/>
          <p:cNvSpPr/>
          <p:nvPr/>
        </p:nvSpPr>
        <p:spPr>
          <a:xfrm>
            <a:off x="1069848" y="6291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50" kern="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dovo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842455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A66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problema · adherencia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637215" y="6291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76656"/>
            <a:ext cx="109728" cy="109728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Entrenar en dúo cambia la ecuación.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3246120" cy="228600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402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spc="-200" kern="0" dirty="0">
                <a:solidFill>
                  <a:srgbClr val="3AC4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6%</a:t>
            </a:r>
            <a:endParaRPr lang="en-US" sz="92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abandono con pareja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2240280"/>
            <a:ext cx="1463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D4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7x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114800" y="3977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A9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retención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2057400"/>
            <a:ext cx="3246120" cy="228600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22402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spc="-200" kern="0" dirty="0">
                <a:solidFill>
                  <a:srgbClr val="6A66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43%</a:t>
            </a:r>
            <a:endParaRPr lang="en-US" sz="9200" dirty="0"/>
          </a:p>
        </p:txBody>
      </p:sp>
      <p:sp>
        <p:nvSpPr>
          <p:cNvPr id="12" name="Text 10"/>
          <p:cNvSpPr/>
          <p:nvPr/>
        </p:nvSpPr>
        <p:spPr>
          <a:xfrm>
            <a:off x="5760720" y="3520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abandono en solitario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89720" y="2057400"/>
            <a:ext cx="2224735" cy="2286000"/>
          </a:xfrm>
          <a:prstGeom prst="rect">
            <a:avLst/>
          </a:prstGeom>
          <a:solidFill>
            <a:srgbClr val="6D4A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0" y="2240280"/>
            <a:ext cx="18132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dúo es la</a:t>
            </a:r>
            <a:endParaRPr lang="en-US" sz="22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unidad atómica.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724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LOOP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5074920"/>
            <a:ext cx="1706042" cy="896112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5376672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44168" y="5074920"/>
            <a:ext cx="106596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Check-in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483282" y="5074920"/>
            <a:ext cx="310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4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2794178" y="5074920"/>
            <a:ext cx="1706042" cy="896112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346" y="5376672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61106" y="5074920"/>
            <a:ext cx="106596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Puntos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500220" y="5074920"/>
            <a:ext cx="310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4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4811116" y="5074920"/>
            <a:ext cx="1706042" cy="896112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284" y="5376672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378044" y="5074920"/>
            <a:ext cx="106596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stats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517157" y="5074920"/>
            <a:ext cx="310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4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6828053" y="5074920"/>
            <a:ext cx="1706042" cy="896112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221" y="5376672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94981" y="5074920"/>
            <a:ext cx="106596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Racha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8945575" y="5074920"/>
            <a:ext cx="2468880" cy="896112"/>
          </a:xfrm>
          <a:prstGeom prst="roundRect">
            <a:avLst>
              <a:gd name="adj" fmla="val 10204"/>
            </a:avLst>
          </a:prstGeom>
          <a:solidFill>
            <a:srgbClr val="6D4A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8183" y="5404104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585655" y="5074920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 demo en vivo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777240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5" name="Shape 28"/>
          <p:cNvSpPr/>
          <p:nvPr/>
        </p:nvSpPr>
        <p:spPr>
          <a:xfrm>
            <a:off x="923544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6" name="Text 29"/>
          <p:cNvSpPr/>
          <p:nvPr/>
        </p:nvSpPr>
        <p:spPr>
          <a:xfrm>
            <a:off x="1069848" y="6291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50" kern="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dovo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6842455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A66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solución · el dúo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10637215" y="6291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76656"/>
            <a:ext cx="109728" cy="109728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 · YA EXISTE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es un mockup. Está en producción.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090008" cy="178308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91440" cy="1783080"/>
          </a:xfrm>
          <a:prstGeom prst="rect">
            <a:avLst/>
          </a:prstGeom>
          <a:solidFill>
            <a:srgbClr val="6D4AFF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2377440"/>
            <a:ext cx="731520" cy="731520"/>
          </a:xfrm>
          <a:prstGeom prst="ellipse">
            <a:avLst/>
          </a:prstGeom>
          <a:solidFill>
            <a:srgbClr val="1A1530"/>
          </a:solidFill>
          <a:ln w="12700">
            <a:solidFill>
              <a:srgbClr val="26223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2359152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RPG real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2148840" y="2852928"/>
            <a:ext cx="348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stats, niveles, prestige y clases. Subes de nivel como personaje al entrenar.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324448" y="2011680"/>
            <a:ext cx="5090008" cy="178308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24448" y="2011680"/>
            <a:ext cx="91440" cy="178308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735928" y="2377440"/>
            <a:ext cx="731520" cy="731520"/>
          </a:xfrm>
          <a:prstGeom prst="ellipse">
            <a:avLst/>
          </a:prstGeom>
          <a:solidFill>
            <a:srgbClr val="1A1530"/>
          </a:solidFill>
          <a:ln w="12700">
            <a:solidFill>
              <a:srgbClr val="26223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808" y="25603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96048" y="2359152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Multideporte día 1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7696048" y="2852928"/>
            <a:ext cx="348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Gym, running, ballet, pilates… todos comparables en la misma cancha.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777240" y="4160520"/>
            <a:ext cx="5090008" cy="178308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4160520"/>
            <a:ext cx="91440" cy="1783080"/>
          </a:xfrm>
          <a:prstGeom prst="rect">
            <a:avLst/>
          </a:prstGeom>
          <a:solidFill>
            <a:srgbClr val="AEF03C"/>
          </a:solidFill>
          <a:ln/>
        </p:spPr>
      </p:sp>
      <p:sp>
        <p:nvSpPr>
          <p:cNvPr id="19" name="Shape 15"/>
          <p:cNvSpPr/>
          <p:nvPr/>
        </p:nvSpPr>
        <p:spPr>
          <a:xfrm>
            <a:off x="1188720" y="4526280"/>
            <a:ext cx="731520" cy="731520"/>
          </a:xfrm>
          <a:prstGeom prst="ellipse">
            <a:avLst/>
          </a:prstGeom>
          <a:solidFill>
            <a:srgbClr val="1A1530"/>
          </a:solidFill>
          <a:ln w="12700">
            <a:solidFill>
              <a:srgbClr val="26223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70916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148840" y="4507992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Racha del dúo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2148840" y="5001768"/>
            <a:ext cx="348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Streak compartida y resumen mensual del progreso de ambos.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6324448" y="4160520"/>
            <a:ext cx="5090008" cy="178308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24448" y="4160520"/>
            <a:ext cx="91440" cy="1783080"/>
          </a:xfrm>
          <a:prstGeom prst="rect">
            <a:avLst/>
          </a:prstGeom>
          <a:solidFill>
            <a:srgbClr val="3AC49A"/>
          </a:solidFill>
          <a:ln/>
        </p:spPr>
      </p:sp>
      <p:sp>
        <p:nvSpPr>
          <p:cNvPr id="25" name="Shape 20"/>
          <p:cNvSpPr/>
          <p:nvPr/>
        </p:nvSpPr>
        <p:spPr>
          <a:xfrm>
            <a:off x="6735928" y="4526280"/>
            <a:ext cx="731520" cy="731520"/>
          </a:xfrm>
          <a:prstGeom prst="ellipse">
            <a:avLst/>
          </a:prstGeom>
          <a:solidFill>
            <a:srgbClr val="1A1530"/>
          </a:solidFill>
          <a:ln w="12700">
            <a:solidFill>
              <a:srgbClr val="26223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808" y="470916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696048" y="4507992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Stack en producción</a:t>
            </a:r>
            <a:endParaRPr lang="en-US" sz="2100" dirty="0"/>
          </a:p>
        </p:txBody>
      </p:sp>
      <p:sp>
        <p:nvSpPr>
          <p:cNvPr id="28" name="Text 22"/>
          <p:cNvSpPr/>
          <p:nvPr/>
        </p:nvSpPr>
        <p:spPr>
          <a:xfrm>
            <a:off x="7696048" y="5001768"/>
            <a:ext cx="348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Next.js + Supabase, desplegado. Fase A completa, no roadmap.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777240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0" name="Shape 24"/>
          <p:cNvSpPr/>
          <p:nvPr/>
        </p:nvSpPr>
        <p:spPr>
          <a:xfrm>
            <a:off x="923544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1" name="Text 25"/>
          <p:cNvSpPr/>
          <p:nvPr/>
        </p:nvSpPr>
        <p:spPr>
          <a:xfrm>
            <a:off x="1069848" y="6291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50" kern="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dovo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842455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A66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 · en producción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10637215" y="6291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76656"/>
            <a:ext cx="109728" cy="109728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QUÉ FUNCIONA · CIENCIA DEL HÁBITO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modelo Hooked, aplicado al dúo.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2384984" cy="283464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2384984" cy="8229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331720"/>
            <a:ext cx="1836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192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Trigger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51560" y="3429000"/>
            <a:ext cx="1882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otro entrenó. Te toca. El dúo es el disparador, no una notificación genérica.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27984" y="2103120"/>
            <a:ext cx="2384984" cy="283464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7984" y="2103120"/>
            <a:ext cx="2384984" cy="82296"/>
          </a:xfrm>
          <a:prstGeom prst="rect">
            <a:avLst/>
          </a:prstGeom>
          <a:solidFill>
            <a:srgbClr val="3AC4D6"/>
          </a:solidFill>
          <a:ln/>
        </p:spPr>
      </p:sp>
      <p:sp>
        <p:nvSpPr>
          <p:cNvPr id="12" name="Text 10"/>
          <p:cNvSpPr/>
          <p:nvPr/>
        </p:nvSpPr>
        <p:spPr>
          <a:xfrm>
            <a:off x="3802304" y="2331720"/>
            <a:ext cx="1836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02304" y="2880360"/>
            <a:ext cx="192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802304" y="3429000"/>
            <a:ext cx="1882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Check-in del entrenamiento de tu disciplina. Fricción mínima.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8728" y="2103120"/>
            <a:ext cx="2384984" cy="283464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8728" y="2103120"/>
            <a:ext cx="2384984" cy="82296"/>
          </a:xfrm>
          <a:prstGeom prst="rect">
            <a:avLst/>
          </a:prstGeom>
          <a:solidFill>
            <a:srgbClr val="C44A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53048" y="2331720"/>
            <a:ext cx="1836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3048" y="2880360"/>
            <a:ext cx="192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Variable Reward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53048" y="3429000"/>
            <a:ext cx="1882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¿Ganamos el duelo de hoy? Recompensa impredecible — el motor de la dopamina.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29471" y="2103120"/>
            <a:ext cx="2384984" cy="283464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29471" y="2103120"/>
            <a:ext cx="2384984" cy="82296"/>
          </a:xfrm>
          <a:prstGeom prst="rect">
            <a:avLst/>
          </a:prstGeom>
          <a:solidFill>
            <a:srgbClr val="AEF03C"/>
          </a:solidFill>
          <a:ln/>
        </p:spPr>
      </p:sp>
      <p:sp>
        <p:nvSpPr>
          <p:cNvPr id="22" name="Text 20"/>
          <p:cNvSpPr/>
          <p:nvPr/>
        </p:nvSpPr>
        <p:spPr>
          <a:xfrm>
            <a:off x="9303791" y="2331720"/>
            <a:ext cx="1836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EF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03791" y="2880360"/>
            <a:ext cx="1927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303791" y="3429000"/>
            <a:ext cx="1882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racha que no quieres romper. Cada día invertido sube el costo de abandonar.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7240" y="5257800"/>
            <a:ext cx="10637215" cy="960120"/>
          </a:xfrm>
          <a:prstGeom prst="rect">
            <a:avLst/>
          </a:prstGeom>
          <a:solidFill>
            <a:srgbClr val="6D4A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234440" y="525780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Cooperación dentro del dúo</a:t>
            </a:r>
            <a:pPr indent="0" marL="0">
              <a:buNone/>
            </a:pPr>
            <a:r>
              <a:rPr lang="en-US" sz="1900" dirty="0">
                <a:solidFill>
                  <a:srgbClr val="D9C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competencia entre dúos.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299655" y="52578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spc="50" kern="0" dirty="0">
                <a:solidFill>
                  <a:srgbClr val="E6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Clash of Clans  ·  Strava clubs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23544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69848" y="6291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50" kern="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42455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A66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ciencia del hábito · hooked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637215" y="6291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76656"/>
            <a:ext cx="109728" cy="109728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FOSO TÉCNICO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Normalización por BMR.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Hace justa la comparación entre disciplinas — sin imponer un formato.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6126480" cy="1554480"/>
          </a:xfrm>
          <a:prstGeom prst="rect">
            <a:avLst/>
          </a:prstGeom>
          <a:solidFill>
            <a:srgbClr val="0E0C18"/>
          </a:solidFill>
          <a:ln w="19050">
            <a:solidFill>
              <a:srgbClr val="6D4A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3774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puntos</a:t>
            </a:r>
            <a:pPr indent="0" marL="0">
              <a:buNone/>
            </a:pPr>
            <a:r>
              <a:rPr lang="en-US" sz="1700" dirty="0">
                <a:solidFill>
                  <a:srgbClr val="9A9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</a:t>
            </a:r>
            <a:pPr indent="0" marL="0">
              <a:buNone/>
            </a:pPr>
            <a:r>
              <a:rPr lang="en-US" sz="1700" b="1" dirty="0">
                <a:solidFill>
                  <a:srgbClr val="F4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 kcal / (BMR / 1440) 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33101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6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1440 = minutos por día  ·  BMR = tasa metabólica basal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1A1530"/>
          </a:solidFill>
          <a:ln w="12700">
            <a:solidFill>
              <a:srgbClr val="26223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427939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esfuerzo, no el deporte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17320" y="4434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hora de ballet y una de gym pueden valer lo mismo. Lo que cuenta es el costo metabólico real.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1A1530"/>
          </a:solidFill>
          <a:ln w="12700">
            <a:solidFill>
              <a:srgbClr val="26223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505663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4892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Defendible por diseño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417320" y="5212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es una feature copiable: es la unidad de medida sobre la que se construye toda la competencia.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77240" y="5715000"/>
            <a:ext cx="457200" cy="457200"/>
          </a:xfrm>
          <a:prstGeom prst="ellipse">
            <a:avLst/>
          </a:prstGeom>
          <a:solidFill>
            <a:srgbClr val="1A1530"/>
          </a:solidFill>
          <a:ln w="12700">
            <a:solidFill>
              <a:srgbClr val="26223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83387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Ya en producción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417320" y="5989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Calculándose en cada check-in, hoy. No es un roadmap ni una promesa.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452360" y="2331720"/>
            <a:ext cx="3962095" cy="370332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7818120" y="256032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MISMO ESFUERZO, DISTINTO DEPORTE</a:t>
            </a:r>
            <a:endParaRPr lang="en-US" sz="10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09981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29600" y="30175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Gym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9235440" y="3108960"/>
            <a:ext cx="1813255" cy="274320"/>
          </a:xfrm>
          <a:prstGeom prst="rect">
            <a:avLst/>
          </a:prstGeom>
          <a:solidFill>
            <a:srgbClr val="0E0C18"/>
          </a:solidFill>
          <a:ln/>
        </p:spPr>
      </p:sp>
      <p:sp>
        <p:nvSpPr>
          <p:cNvPr id="26" name="Shape 20"/>
          <p:cNvSpPr/>
          <p:nvPr/>
        </p:nvSpPr>
        <p:spPr>
          <a:xfrm>
            <a:off x="9235440" y="3108960"/>
            <a:ext cx="1668195" cy="274320"/>
          </a:xfrm>
          <a:prstGeom prst="rect">
            <a:avLst/>
          </a:prstGeom>
          <a:solidFill>
            <a:srgbClr val="6D4A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370332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29600" y="36210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9235440" y="3712464"/>
            <a:ext cx="1813255" cy="274320"/>
          </a:xfrm>
          <a:prstGeom prst="rect">
            <a:avLst/>
          </a:prstGeom>
          <a:solidFill>
            <a:srgbClr val="0E0C18"/>
          </a:solidFill>
          <a:ln/>
        </p:spPr>
      </p:sp>
      <p:sp>
        <p:nvSpPr>
          <p:cNvPr id="30" name="Shape 23"/>
          <p:cNvSpPr/>
          <p:nvPr/>
        </p:nvSpPr>
        <p:spPr>
          <a:xfrm>
            <a:off x="9235440" y="3712464"/>
            <a:ext cx="1559399" cy="274320"/>
          </a:xfrm>
          <a:prstGeom prst="rect">
            <a:avLst/>
          </a:prstGeom>
          <a:solidFill>
            <a:srgbClr val="3A86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4306824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29600" y="422452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Ballet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9235440" y="4315968"/>
            <a:ext cx="1813255" cy="274320"/>
          </a:xfrm>
          <a:prstGeom prst="rect">
            <a:avLst/>
          </a:prstGeom>
          <a:solidFill>
            <a:srgbClr val="0E0C18"/>
          </a:solidFill>
          <a:ln/>
        </p:spPr>
      </p:sp>
      <p:sp>
        <p:nvSpPr>
          <p:cNvPr id="34" name="Shape 26"/>
          <p:cNvSpPr/>
          <p:nvPr/>
        </p:nvSpPr>
        <p:spPr>
          <a:xfrm>
            <a:off x="9235440" y="4315968"/>
            <a:ext cx="1450604" cy="274320"/>
          </a:xfrm>
          <a:prstGeom prst="rect">
            <a:avLst/>
          </a:prstGeom>
          <a:solidFill>
            <a:srgbClr val="C44AFF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4910328"/>
            <a:ext cx="292608" cy="29260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229600" y="482803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Pilates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9235440" y="4919472"/>
            <a:ext cx="1813255" cy="274320"/>
          </a:xfrm>
          <a:prstGeom prst="rect">
            <a:avLst/>
          </a:prstGeom>
          <a:solidFill>
            <a:srgbClr val="0E0C18"/>
          </a:solidFill>
          <a:ln/>
        </p:spPr>
      </p:sp>
      <p:sp>
        <p:nvSpPr>
          <p:cNvPr id="38" name="Shape 29"/>
          <p:cNvSpPr/>
          <p:nvPr/>
        </p:nvSpPr>
        <p:spPr>
          <a:xfrm>
            <a:off x="9235440" y="4919472"/>
            <a:ext cx="1505002" cy="274320"/>
          </a:xfrm>
          <a:prstGeom prst="rect">
            <a:avLst/>
          </a:prstGeom>
          <a:solidFill>
            <a:srgbClr val="3AC4D6"/>
          </a:solidFill>
          <a:ln/>
        </p:spPr>
      </p:sp>
      <p:sp>
        <p:nvSpPr>
          <p:cNvPr id="39" name="Text 30"/>
          <p:cNvSpPr/>
          <p:nvPr/>
        </p:nvSpPr>
        <p:spPr>
          <a:xfrm>
            <a:off x="7818120" y="553212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Cualquier disciplina entra al mismo leaderboard.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777240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41" name="Shape 32"/>
          <p:cNvSpPr/>
          <p:nvPr/>
        </p:nvSpPr>
        <p:spPr>
          <a:xfrm>
            <a:off x="923544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42" name="Text 33"/>
          <p:cNvSpPr/>
          <p:nvPr/>
        </p:nvSpPr>
        <p:spPr>
          <a:xfrm>
            <a:off x="1069848" y="6291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50" kern="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dovo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6842455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A66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foso técnico · BMR</a:t>
            </a:r>
            <a:endParaRPr lang="en-US" sz="850" dirty="0"/>
          </a:p>
        </p:txBody>
      </p:sp>
      <p:sp>
        <p:nvSpPr>
          <p:cNvPr id="44" name="Text 35"/>
          <p:cNvSpPr/>
          <p:nvPr/>
        </p:nvSpPr>
        <p:spPr>
          <a:xfrm>
            <a:off x="10637215" y="6291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76656"/>
            <a:ext cx="109728" cy="109728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MERCADO · MÉXICO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categoría sin ocupar.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9128455" y="105156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0E0C18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84487" y="1197864"/>
            <a:ext cx="118872" cy="118872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7" name="Text 5"/>
          <p:cNvSpPr/>
          <p:nvPr/>
        </p:nvSpPr>
        <p:spPr>
          <a:xfrm>
            <a:off x="9384487" y="1051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7345375" cy="1143000"/>
          </a:xfrm>
          <a:prstGeom prst="rect">
            <a:avLst/>
          </a:prstGeom>
          <a:solidFill>
            <a:srgbClr val="131022"/>
          </a:solidFill>
          <a:ln w="15875">
            <a:solidFill>
              <a:srgbClr val="6D4A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148840"/>
            <a:ext cx="109728" cy="1143000"/>
          </a:xfrm>
          <a:prstGeom prst="rect">
            <a:avLst/>
          </a:prstGeom>
          <a:solidFill>
            <a:srgbClr val="6D4AFF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148840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40280" y="214884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~8–10M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2148840"/>
            <a:ext cx="32305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 activas (~4–5M dúos)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5435578" cy="1143000"/>
          </a:xfrm>
          <a:prstGeom prst="rect">
            <a:avLst/>
          </a:prstGeom>
          <a:solidFill>
            <a:srgbClr val="131022"/>
          </a:solidFill>
          <a:ln w="15875">
            <a:solidFill>
              <a:srgbClr val="C44A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474720"/>
            <a:ext cx="109728" cy="1143000"/>
          </a:xfrm>
          <a:prstGeom prst="rect">
            <a:avLst/>
          </a:prstGeom>
          <a:solidFill>
            <a:srgbClr val="C44A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474720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4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240280" y="347472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~750K–1M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3474720"/>
            <a:ext cx="13207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dúos alcanzables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4800600"/>
            <a:ext cx="3672688" cy="1143000"/>
          </a:xfrm>
          <a:prstGeom prst="rect">
            <a:avLst/>
          </a:prstGeom>
          <a:solidFill>
            <a:srgbClr val="131022"/>
          </a:solidFill>
          <a:ln w="15875">
            <a:solidFill>
              <a:srgbClr val="6D4A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800600"/>
            <a:ext cx="109728" cy="1143000"/>
          </a:xfrm>
          <a:prstGeom prst="rect">
            <a:avLst/>
          </a:prstGeom>
          <a:solidFill>
            <a:srgbClr val="6D4A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4800600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240280" y="480060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5K–25K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54880" y="480060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dúos a 36 meses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579815" y="2148840"/>
            <a:ext cx="2834640" cy="4023360"/>
          </a:xfrm>
          <a:prstGeom prst="rect">
            <a:avLst/>
          </a:prstGeom>
          <a:solidFill>
            <a:srgbClr val="6D4A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899855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6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ESPACIO EN BLANCO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99855" y="2743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Nadie ocupa la intersección: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899855" y="3291840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99855" y="32918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es-MX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899855" y="3822192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99855" y="382219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per-dúo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899855" y="4352544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99855" y="435254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multideporte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899855" y="4882896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99855" y="48828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RPG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899855" y="5413248"/>
            <a:ext cx="219456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99855" y="54132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rivalidad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77240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7" name="Shape 35"/>
          <p:cNvSpPr/>
          <p:nvPr/>
        </p:nvSpPr>
        <p:spPr>
          <a:xfrm>
            <a:off x="923544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8" name="Text 36"/>
          <p:cNvSpPr/>
          <p:nvPr/>
        </p:nvSpPr>
        <p:spPr>
          <a:xfrm>
            <a:off x="1069848" y="6291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50" kern="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42455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A66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mercado · TAM/SAM/SOM (MX)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637215" y="6291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76656"/>
            <a:ext cx="109728" cy="109728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DE NEGOCIO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50" kern="0" dirty="0">
                <a:solidFill>
                  <a:srgbClr val="6D4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$99</a:t>
            </a:r>
            <a:pPr indent="0" marL="0">
              <a:buNone/>
            </a:pPr>
            <a:r>
              <a:rPr lang="en-US" sz="4400" b="1" spc="-150" kern="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MXN / mes </a:t>
            </a:r>
            <a:pPr indent="0" marL="0">
              <a:buNone/>
            </a:pPr>
            <a:r>
              <a:rPr lang="en-US" sz="4400" b="1" spc="-150" kern="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dúo.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9A9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ARPU ~$49.50 por persona  ·  pricing per-dúo, no per-user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2346960" cy="283464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78892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234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-100" kern="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05840" y="4251960"/>
            <a:ext cx="188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Primeros 200 dúos. Semilla de la red.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89960" y="2331720"/>
            <a:ext cx="2346960" cy="3108960"/>
          </a:xfrm>
          <a:prstGeom prst="rect">
            <a:avLst/>
          </a:prstGeom>
          <a:solidFill>
            <a:srgbClr val="1A1530"/>
          </a:solidFill>
          <a:ln w="22225">
            <a:solidFill>
              <a:srgbClr val="6D4A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89960" y="2331720"/>
            <a:ext cx="2346960" cy="109728"/>
          </a:xfrm>
          <a:prstGeom prst="rect">
            <a:avLst/>
          </a:prstGeom>
          <a:solidFill>
            <a:srgbClr val="6D4A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89960" y="251460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MÁS POPULAR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89960" y="283464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489960" y="3337560"/>
            <a:ext cx="234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-100" kern="0" dirty="0">
                <a:solidFill>
                  <a:srgbClr val="6D4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$99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718560" y="4343400"/>
            <a:ext cx="188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completo del dúo. El core del negocio.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02680" y="2468880"/>
            <a:ext cx="2346960" cy="283464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02680" y="278892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Premium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202680" y="3291840"/>
            <a:ext cx="234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-100" kern="0" dirty="0">
                <a:solidFill>
                  <a:srgbClr val="C44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$$$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431280" y="4251960"/>
            <a:ext cx="188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Meal plans IA, boosts y ligas avanzadas.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06840" y="2468880"/>
            <a:ext cx="2407615" cy="155448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697480"/>
            <a:ext cx="411480" cy="4114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875520" y="2651760"/>
            <a:ext cx="1401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B2B partners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9326880" y="3154680"/>
            <a:ext cx="1767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Descuentos a cambio de métricas agregadas de adherencia (gyms, aseguradoras, marcas).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006840" y="4206240"/>
            <a:ext cx="2407615" cy="1234440"/>
          </a:xfrm>
          <a:prstGeom prst="rect">
            <a:avLst/>
          </a:prstGeom>
          <a:solidFill>
            <a:srgbClr val="6D4A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326880" y="4297680"/>
            <a:ext cx="1767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&gt;80%</a:t>
            </a:r>
            <a:endParaRPr lang="en-US" sz="4600" dirty="0"/>
          </a:p>
        </p:txBody>
      </p:sp>
      <p:sp>
        <p:nvSpPr>
          <p:cNvPr id="26" name="Text 23"/>
          <p:cNvSpPr/>
          <p:nvPr/>
        </p:nvSpPr>
        <p:spPr>
          <a:xfrm>
            <a:off x="9326880" y="5029200"/>
            <a:ext cx="1767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margen bruto (SaaS puro)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77240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28" name="Shape 25"/>
          <p:cNvSpPr/>
          <p:nvPr/>
        </p:nvSpPr>
        <p:spPr>
          <a:xfrm>
            <a:off x="923544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29" name="Text 26"/>
          <p:cNvSpPr/>
          <p:nvPr/>
        </p:nvSpPr>
        <p:spPr>
          <a:xfrm>
            <a:off x="1069848" y="6291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50" kern="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dovo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842455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A66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de negocio · per-dúo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0637215" y="6291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76656"/>
            <a:ext cx="109728" cy="109728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COMPETENCIA · DIFERENCIADOR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unidad + el motor: nadie más los tiene.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28800"/>
          <a:ext cx="106372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34840"/>
                <a:gridCol w="407822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6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96A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stickK / Pact / OATH / Sweatmates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C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dovo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Idioma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C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7A8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Inglés clinical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0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Español MX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Unidad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C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7A8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Per-user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0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Per-dúo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Disciplinas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C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7A8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 disciplina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0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Multideporte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Rivalidad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C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7A8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Social cosmético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0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Explícita — incluso “entre enemigos”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Progresión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C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7A8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Streaks básicos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0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RPG · 6 stats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Comparación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C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7A8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 comparable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0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Normalizada por BMR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5715000"/>
            <a:ext cx="10637215" cy="640080"/>
          </a:xfrm>
          <a:prstGeom prst="rect">
            <a:avLst/>
          </a:prstGeom>
          <a:solidFill>
            <a:srgbClr val="0E0C18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3000" y="5715000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diferenciador no es una feature. Es la </a:t>
            </a:r>
            <a:pPr indent="0" marL="0">
              <a:buNone/>
            </a:pPr>
            <a:r>
              <a:rPr lang="en-US" sz="1600" b="1" dirty="0">
                <a:solidFill>
                  <a:srgbClr val="6D4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UNIDAD</a:t>
            </a:r>
            <a:pPr indent="0" marL="0">
              <a:buNone/>
            </a:pPr>
            <a:r>
              <a:rPr lang="en-US" sz="16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(el dúo) y el </a:t>
            </a:r>
            <a:pPr indent="0" marL="0">
              <a:buNone/>
            </a:pPr>
            <a:r>
              <a:rPr lang="en-US" sz="1600" b="1" dirty="0">
                <a:solidFill>
                  <a:srgbClr val="6D4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MOTOR</a:t>
            </a:r>
            <a:pPr indent="0" marL="0">
              <a:buNone/>
            </a:pPr>
            <a:r>
              <a:rPr lang="en-US" sz="160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(BMR).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9" name="Shape 6"/>
          <p:cNvSpPr/>
          <p:nvPr/>
        </p:nvSpPr>
        <p:spPr>
          <a:xfrm>
            <a:off x="923544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6291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50" kern="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42455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A66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competencia · diferenciador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637215" y="6291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76656"/>
            <a:ext cx="109728" cy="109728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TRACCIÓN · ESTADO HONESTO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Construido. Desplegado. Sin usuarios todavía.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3240938" cy="219456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3240938" cy="82296"/>
          </a:xfrm>
          <a:prstGeom prst="rect">
            <a:avLst/>
          </a:prstGeom>
          <a:solidFill>
            <a:srgbClr val="3AC49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774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2788920"/>
            <a:ext cx="2509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3AC4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A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1143000" y="3703320"/>
            <a:ext cx="2600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completa y desplegada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75378" y="2103120"/>
            <a:ext cx="3240938" cy="219456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75378" y="2103120"/>
            <a:ext cx="3240938" cy="82296"/>
          </a:xfrm>
          <a:prstGeom prst="rect">
            <a:avLst/>
          </a:prstGeom>
          <a:solidFill>
            <a:srgbClr val="6D4A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138" y="2377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1138" y="2788920"/>
            <a:ext cx="2509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6D4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9+</a:t>
            </a:r>
            <a:endParaRPr lang="en-US" sz="5200" dirty="0"/>
          </a:p>
        </p:txBody>
      </p:sp>
      <p:sp>
        <p:nvSpPr>
          <p:cNvPr id="14" name="Text 10"/>
          <p:cNvSpPr/>
          <p:nvPr/>
        </p:nvSpPr>
        <p:spPr>
          <a:xfrm>
            <a:off x="4841138" y="3703320"/>
            <a:ext cx="2600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pantallas pulidas en producción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73517" y="2103120"/>
            <a:ext cx="3240938" cy="219456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73517" y="2103120"/>
            <a:ext cx="3240938" cy="82296"/>
          </a:xfrm>
          <a:prstGeom prst="rect">
            <a:avLst/>
          </a:prstGeom>
          <a:solidFill>
            <a:srgbClr val="FF547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23774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39277" y="2788920"/>
            <a:ext cx="2509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FF5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5200" dirty="0"/>
          </a:p>
        </p:txBody>
      </p:sp>
      <p:sp>
        <p:nvSpPr>
          <p:cNvPr id="19" name="Text 14"/>
          <p:cNvSpPr/>
          <p:nvPr/>
        </p:nvSpPr>
        <p:spPr>
          <a:xfrm>
            <a:off x="8539277" y="3703320"/>
            <a:ext cx="2600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usuarios reales — todavía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777240" y="4617720"/>
            <a:ext cx="10637215" cy="1600200"/>
          </a:xfrm>
          <a:prstGeom prst="rect">
            <a:avLst/>
          </a:prstGeom>
          <a:solidFill>
            <a:srgbClr val="6D4AFF"/>
          </a:solidFill>
          <a:ln/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1325880" y="4800600"/>
            <a:ext cx="9539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ask no financia construcción.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1325880" y="5440680"/>
            <a:ext cx="9539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producto ya existe. El capital financia una sola cosa: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VALIDACIÓN.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777240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24" name="Shape 19"/>
          <p:cNvSpPr/>
          <p:nvPr/>
        </p:nvSpPr>
        <p:spPr>
          <a:xfrm>
            <a:off x="923544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25" name="Text 20"/>
          <p:cNvSpPr/>
          <p:nvPr/>
        </p:nvSpPr>
        <p:spPr>
          <a:xfrm>
            <a:off x="1069848" y="6291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50" kern="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dovo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842455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A66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tracción · honesto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0637215" y="6291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76656"/>
            <a:ext cx="109728" cy="109728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la web mobile-first al smartwatch.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60120" y="2514600"/>
            <a:ext cx="10271455" cy="0"/>
          </a:xfrm>
          <a:prstGeom prst="line">
            <a:avLst/>
          </a:prstGeom>
          <a:noFill/>
          <a:ln w="25400">
            <a:solidFill>
              <a:srgbClr val="2622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86584"/>
            <a:ext cx="256032" cy="256032"/>
          </a:xfrm>
          <a:prstGeom prst="ellipse">
            <a:avLst/>
          </a:prstGeom>
          <a:solidFill>
            <a:srgbClr val="6D4AFF"/>
          </a:solidFill>
          <a:ln w="25400">
            <a:solidFill>
              <a:srgbClr val="07060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926080"/>
            <a:ext cx="2384984" cy="292608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926080"/>
            <a:ext cx="2384984" cy="82296"/>
          </a:xfrm>
          <a:prstGeom prst="rect">
            <a:avLst/>
          </a:prstGeom>
          <a:solidFill>
            <a:srgbClr val="6D4AFF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3200400"/>
            <a:ext cx="640080" cy="640080"/>
          </a:xfrm>
          <a:prstGeom prst="ellipse">
            <a:avLst/>
          </a:prstGeom>
          <a:solidFill>
            <a:srgbClr val="1A1530"/>
          </a:solidFill>
          <a:ln w="12700">
            <a:solidFill>
              <a:srgbClr val="26223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335584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3977640"/>
            <a:ext cx="1927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AHORA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51560" y="4434840"/>
            <a:ext cx="18820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B: leaderboard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C: retos + boosts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+ showcase público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527984" y="2386584"/>
            <a:ext cx="256032" cy="256032"/>
          </a:xfrm>
          <a:prstGeom prst="ellipse">
            <a:avLst/>
          </a:prstGeom>
          <a:solidFill>
            <a:srgbClr val="3AC4D6"/>
          </a:solidFill>
          <a:ln w="25400">
            <a:solidFill>
              <a:srgbClr val="07060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7984" y="2926080"/>
            <a:ext cx="2384984" cy="292608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527984" y="2926080"/>
            <a:ext cx="2384984" cy="82296"/>
          </a:xfrm>
          <a:prstGeom prst="rect">
            <a:avLst/>
          </a:prstGeom>
          <a:solidFill>
            <a:srgbClr val="3AC4D6"/>
          </a:solidFill>
          <a:ln/>
        </p:spPr>
      </p:sp>
      <p:sp>
        <p:nvSpPr>
          <p:cNvPr id="16" name="Shape 13"/>
          <p:cNvSpPr/>
          <p:nvPr/>
        </p:nvSpPr>
        <p:spPr>
          <a:xfrm>
            <a:off x="3802304" y="3200400"/>
            <a:ext cx="640080" cy="640080"/>
          </a:xfrm>
          <a:prstGeom prst="ellipse">
            <a:avLst/>
          </a:prstGeom>
          <a:solidFill>
            <a:srgbClr val="1A1530"/>
          </a:solidFill>
          <a:ln w="12700">
            <a:solidFill>
              <a:srgbClr val="26223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752" y="3355848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02304" y="3977640"/>
            <a:ext cx="1927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3A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Q+1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802304" y="4434840"/>
            <a:ext cx="18820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Pro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Meal plans IA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Stripe + push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78728" y="2386584"/>
            <a:ext cx="256032" cy="256032"/>
          </a:xfrm>
          <a:prstGeom prst="ellipse">
            <a:avLst/>
          </a:prstGeom>
          <a:solidFill>
            <a:srgbClr val="C44AFF"/>
          </a:solidFill>
          <a:ln w="25400">
            <a:solidFill>
              <a:srgbClr val="07060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78728" y="2926080"/>
            <a:ext cx="2384984" cy="292608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78728" y="2926080"/>
            <a:ext cx="2384984" cy="82296"/>
          </a:xfrm>
          <a:prstGeom prst="rect">
            <a:avLst/>
          </a:prstGeom>
          <a:solidFill>
            <a:srgbClr val="C44AFF"/>
          </a:solidFill>
          <a:ln/>
        </p:spPr>
      </p:sp>
      <p:sp>
        <p:nvSpPr>
          <p:cNvPr id="23" name="Shape 19"/>
          <p:cNvSpPr/>
          <p:nvPr/>
        </p:nvSpPr>
        <p:spPr>
          <a:xfrm>
            <a:off x="6553048" y="3200400"/>
            <a:ext cx="640080" cy="640080"/>
          </a:xfrm>
          <a:prstGeom prst="ellipse">
            <a:avLst/>
          </a:prstGeom>
          <a:solidFill>
            <a:srgbClr val="1A1530"/>
          </a:solidFill>
          <a:ln w="12700">
            <a:solidFill>
              <a:srgbClr val="26223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496" y="3355848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53048" y="3977640"/>
            <a:ext cx="1927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4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Q+2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553048" y="4434840"/>
            <a:ext cx="18820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B2B partners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D: ligas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9029471" y="2386584"/>
            <a:ext cx="256032" cy="256032"/>
          </a:xfrm>
          <a:prstGeom prst="ellipse">
            <a:avLst/>
          </a:prstGeom>
          <a:solidFill>
            <a:srgbClr val="AEF03C"/>
          </a:solidFill>
          <a:ln w="25400">
            <a:solidFill>
              <a:srgbClr val="07060D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029471" y="2926080"/>
            <a:ext cx="2384984" cy="292608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029471" y="2926080"/>
            <a:ext cx="2384984" cy="82296"/>
          </a:xfrm>
          <a:prstGeom prst="rect">
            <a:avLst/>
          </a:prstGeom>
          <a:solidFill>
            <a:srgbClr val="AEF03C"/>
          </a:solidFill>
          <a:ln/>
        </p:spPr>
      </p:sp>
      <p:sp>
        <p:nvSpPr>
          <p:cNvPr id="30" name="Shape 25"/>
          <p:cNvSpPr/>
          <p:nvPr/>
        </p:nvSpPr>
        <p:spPr>
          <a:xfrm>
            <a:off x="9303791" y="3200400"/>
            <a:ext cx="640080" cy="640080"/>
          </a:xfrm>
          <a:prstGeom prst="ellipse">
            <a:avLst/>
          </a:prstGeom>
          <a:solidFill>
            <a:srgbClr val="1A1530"/>
          </a:solidFill>
          <a:ln w="12700">
            <a:solidFill>
              <a:srgbClr val="262238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239" y="3355848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303791" y="3977640"/>
            <a:ext cx="1927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AEF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DESPUÉS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9303791" y="4434840"/>
            <a:ext cx="18820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Estudios médicos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Móvil nativo iOS/Android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Smartwatch + HealthKit / Health Connect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777240" y="60350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Estrategia de plataforma:  </a:t>
            </a:r>
            <a:pPr algn="ctr" indent="0" marL="0">
              <a:buNone/>
            </a:pPr>
            <a:r>
              <a:rPr lang="en-US" sz="1200" b="1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mobile-first / PWA</a:t>
            </a:r>
            <a:pPr algn="ctr" indent="0" marL="0">
              <a:buNone/>
            </a:pPr>
            <a:r>
              <a:rPr lang="en-US" sz="1200" dirty="0">
                <a:solidFill>
                  <a:srgbClr val="6A66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algn="ctr" indent="0" marL="0">
              <a:buNone/>
            </a:pPr>
            <a:r>
              <a:rPr lang="en-US" sz="1200" b="1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 nativas</a:t>
            </a:r>
            <a:pPr algn="ctr" indent="0" marL="0">
              <a:buNone/>
            </a:pPr>
            <a:r>
              <a:rPr lang="en-US" sz="1200" dirty="0">
                <a:solidFill>
                  <a:srgbClr val="6A66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algn="ctr" indent="0" marL="0">
              <a:buNone/>
            </a:pPr>
            <a:r>
              <a:rPr lang="en-US" sz="1200" b="1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smartwatches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777240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6" name="Shape 30"/>
          <p:cNvSpPr/>
          <p:nvPr/>
        </p:nvSpPr>
        <p:spPr>
          <a:xfrm>
            <a:off x="923544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7" name="Text 31"/>
          <p:cNvSpPr/>
          <p:nvPr/>
        </p:nvSpPr>
        <p:spPr>
          <a:xfrm>
            <a:off x="1069848" y="6291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50" kern="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dovo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6842455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A66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 · plataforma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10637215" y="6291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7315200" cy="7315200"/>
          </a:xfrm>
          <a:prstGeom prst="ellipse">
            <a:avLst/>
          </a:prstGeom>
          <a:solidFill>
            <a:srgbClr val="6D4A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676656"/>
            <a:ext cx="109728" cy="109728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4" name="Text 2"/>
          <p:cNvSpPr/>
          <p:nvPr/>
        </p:nvSpPr>
        <p:spPr>
          <a:xfrm>
            <a:off x="996696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Pre-seed para encender la máquina.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2194560" cy="233172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194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4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2860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28803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Primeros ~500–1,000 dúos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51560" y="36118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Llenar la red con dúos reales y activos.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37560" y="2011680"/>
            <a:ext cx="2194560" cy="233172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11880" y="2194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4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8600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28803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Validar retención M3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611880" y="36118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Medir el churn real contra el benchmark de 6%.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897880" y="2011680"/>
            <a:ext cx="2194560" cy="2331720"/>
          </a:xfrm>
          <a:prstGeom prst="rect">
            <a:avLst/>
          </a:prstGeom>
          <a:solidFill>
            <a:srgbClr val="131022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172200" y="2194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4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4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28600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28803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Activar la capa competitiva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172200" y="36118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Encender leaderboards, ligas y rivalidad.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549640" y="2011680"/>
            <a:ext cx="2864815" cy="2331720"/>
          </a:xfrm>
          <a:prstGeom prst="rect">
            <a:avLst/>
          </a:prstGeom>
          <a:solidFill>
            <a:srgbClr val="0E0C18"/>
          </a:solidFill>
          <a:ln w="12700">
            <a:solidFill>
              <a:srgbClr val="2622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8869680" y="2194560"/>
            <a:ext cx="2224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USO DE FONDOS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869680" y="2606040"/>
            <a:ext cx="1950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10545775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869680" y="2852928"/>
            <a:ext cx="2224735" cy="109728"/>
          </a:xfrm>
          <a:prstGeom prst="rect">
            <a:avLst/>
          </a:prstGeom>
          <a:solidFill>
            <a:srgbClr val="131022"/>
          </a:solidFill>
          <a:ln/>
        </p:spPr>
      </p:sp>
      <p:sp>
        <p:nvSpPr>
          <p:cNvPr id="26" name="Shape 21"/>
          <p:cNvSpPr/>
          <p:nvPr/>
        </p:nvSpPr>
        <p:spPr>
          <a:xfrm>
            <a:off x="8869680" y="2852928"/>
            <a:ext cx="1112368" cy="109728"/>
          </a:xfrm>
          <a:prstGeom prst="rect">
            <a:avLst/>
          </a:prstGeom>
          <a:solidFill>
            <a:srgbClr val="6D4AFF"/>
          </a:solidFill>
          <a:ln/>
        </p:spPr>
      </p:sp>
      <p:sp>
        <p:nvSpPr>
          <p:cNvPr id="27" name="Text 22"/>
          <p:cNvSpPr/>
          <p:nvPr/>
        </p:nvSpPr>
        <p:spPr>
          <a:xfrm>
            <a:off x="8869680" y="3026664"/>
            <a:ext cx="1950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Producto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10545775" y="3026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4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8869680" y="3273552"/>
            <a:ext cx="2224735" cy="109728"/>
          </a:xfrm>
          <a:prstGeom prst="rect">
            <a:avLst/>
          </a:prstGeom>
          <a:solidFill>
            <a:srgbClr val="131022"/>
          </a:solidFill>
          <a:ln/>
        </p:spPr>
      </p:sp>
      <p:sp>
        <p:nvSpPr>
          <p:cNvPr id="30" name="Shape 25"/>
          <p:cNvSpPr/>
          <p:nvPr/>
        </p:nvSpPr>
        <p:spPr>
          <a:xfrm>
            <a:off x="8869680" y="3273552"/>
            <a:ext cx="556184" cy="109728"/>
          </a:xfrm>
          <a:prstGeom prst="rect">
            <a:avLst/>
          </a:prstGeom>
          <a:solidFill>
            <a:srgbClr val="C44AFF"/>
          </a:solidFill>
          <a:ln/>
        </p:spPr>
      </p:sp>
      <p:sp>
        <p:nvSpPr>
          <p:cNvPr id="31" name="Text 26"/>
          <p:cNvSpPr/>
          <p:nvPr/>
        </p:nvSpPr>
        <p:spPr>
          <a:xfrm>
            <a:off x="8869680" y="3447288"/>
            <a:ext cx="1950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Partners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10545775" y="34472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A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869680" y="3694176"/>
            <a:ext cx="2224735" cy="109728"/>
          </a:xfrm>
          <a:prstGeom prst="rect">
            <a:avLst/>
          </a:prstGeom>
          <a:solidFill>
            <a:srgbClr val="131022"/>
          </a:solidFill>
          <a:ln/>
        </p:spPr>
      </p:sp>
      <p:sp>
        <p:nvSpPr>
          <p:cNvPr id="34" name="Shape 29"/>
          <p:cNvSpPr/>
          <p:nvPr/>
        </p:nvSpPr>
        <p:spPr>
          <a:xfrm>
            <a:off x="8869680" y="3694176"/>
            <a:ext cx="333710" cy="109728"/>
          </a:xfrm>
          <a:prstGeom prst="rect">
            <a:avLst/>
          </a:prstGeom>
          <a:solidFill>
            <a:srgbClr val="3AC4D6"/>
          </a:solidFill>
          <a:ln/>
        </p:spPr>
      </p:sp>
      <p:sp>
        <p:nvSpPr>
          <p:cNvPr id="35" name="Text 30"/>
          <p:cNvSpPr/>
          <p:nvPr/>
        </p:nvSpPr>
        <p:spPr>
          <a:xfrm>
            <a:off x="8869680" y="3867912"/>
            <a:ext cx="1950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 / infra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10545775" y="38679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AEF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8869680" y="4114800"/>
            <a:ext cx="2224735" cy="109728"/>
          </a:xfrm>
          <a:prstGeom prst="rect">
            <a:avLst/>
          </a:prstGeom>
          <a:solidFill>
            <a:srgbClr val="131022"/>
          </a:solidFill>
          <a:ln/>
        </p:spPr>
      </p:sp>
      <p:sp>
        <p:nvSpPr>
          <p:cNvPr id="38" name="Shape 33"/>
          <p:cNvSpPr/>
          <p:nvPr/>
        </p:nvSpPr>
        <p:spPr>
          <a:xfrm>
            <a:off x="8869680" y="4114800"/>
            <a:ext cx="222474" cy="109728"/>
          </a:xfrm>
          <a:prstGeom prst="rect">
            <a:avLst/>
          </a:prstGeom>
          <a:solidFill>
            <a:srgbClr val="AEF03C"/>
          </a:solidFill>
          <a:ln/>
        </p:spPr>
      </p:sp>
      <p:sp>
        <p:nvSpPr>
          <p:cNvPr id="39" name="Shape 34"/>
          <p:cNvSpPr/>
          <p:nvPr/>
        </p:nvSpPr>
        <p:spPr>
          <a:xfrm>
            <a:off x="777240" y="4663440"/>
            <a:ext cx="10637215" cy="1417320"/>
          </a:xfrm>
          <a:prstGeom prst="rect">
            <a:avLst/>
          </a:prstGeom>
          <a:solidFill>
            <a:srgbClr val="6D4AFF"/>
          </a:solidFill>
          <a:ln/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40" name="Text 35"/>
          <p:cNvSpPr/>
          <p:nvPr/>
        </p:nvSpPr>
        <p:spPr>
          <a:xfrm>
            <a:off x="1234440" y="466344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6400" dirty="0"/>
          </a:p>
        </p:txBody>
      </p:sp>
      <p:sp>
        <p:nvSpPr>
          <p:cNvPr id="41" name="Text 36"/>
          <p:cNvSpPr/>
          <p:nvPr/>
        </p:nvSpPr>
        <p:spPr>
          <a:xfrm>
            <a:off x="2880360" y="46634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spc="100" kern="0" dirty="0">
                <a:solidFill>
                  <a:srgbClr val="E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meses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spc="100" kern="0" dirty="0">
                <a:solidFill>
                  <a:srgbClr val="E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runway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4983480" y="4983480"/>
            <a:ext cx="0" cy="77724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349240" y="4663440"/>
            <a:ext cx="5699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prometido es deuda.</a:t>
            </a:r>
            <a:endParaRPr lang="en-US" sz="2800" dirty="0"/>
          </a:p>
        </p:txBody>
      </p:sp>
      <p:sp>
        <p:nvSpPr>
          <p:cNvPr id="44" name="Text 39"/>
          <p:cNvSpPr/>
          <p:nvPr/>
        </p:nvSpPr>
        <p:spPr>
          <a:xfrm>
            <a:off x="5349240" y="5303520"/>
            <a:ext cx="5699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Hyrox para cualquier disciplina — fitness que se juega en dúo.</a:t>
            </a:r>
            <a:endParaRPr lang="en-US" sz="1400" dirty="0"/>
          </a:p>
        </p:txBody>
      </p:sp>
      <p:sp>
        <p:nvSpPr>
          <p:cNvPr id="45" name="Text 40"/>
          <p:cNvSpPr/>
          <p:nvPr/>
        </p:nvSpPr>
        <p:spPr>
          <a:xfrm>
            <a:off x="5349240" y="5669280"/>
            <a:ext cx="5699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dovofit.com</a:t>
            </a:r>
            <a:endParaRPr lang="en-US" sz="1200" dirty="0"/>
          </a:p>
        </p:txBody>
      </p:sp>
      <p:sp>
        <p:nvSpPr>
          <p:cNvPr id="46" name="Shape 41"/>
          <p:cNvSpPr/>
          <p:nvPr/>
        </p:nvSpPr>
        <p:spPr>
          <a:xfrm>
            <a:off x="777240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47" name="Shape 42"/>
          <p:cNvSpPr/>
          <p:nvPr/>
        </p:nvSpPr>
        <p:spPr>
          <a:xfrm>
            <a:off x="923544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48" name="Text 43"/>
          <p:cNvSpPr/>
          <p:nvPr/>
        </p:nvSpPr>
        <p:spPr>
          <a:xfrm>
            <a:off x="1069848" y="6291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50" kern="0" dirty="0">
                <a:solidFill>
                  <a:srgbClr val="9A96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dovo</a:t>
            </a:r>
            <a:endParaRPr lang="en-US" sz="1100" dirty="0"/>
          </a:p>
        </p:txBody>
      </p:sp>
      <p:sp>
        <p:nvSpPr>
          <p:cNvPr id="49" name="Text 44"/>
          <p:cNvSpPr/>
          <p:nvPr/>
        </p:nvSpPr>
        <p:spPr>
          <a:xfrm>
            <a:off x="6842455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A66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 · pre-seed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10637215" y="6291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76656"/>
            <a:ext cx="109728" cy="109728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APÉNDICE · HIGHLIGHTS FINANCIEROS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0807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Escenario base.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311335" y="100584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8B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49079" y="1152144"/>
            <a:ext cx="118872" cy="118872"/>
          </a:xfrm>
          <a:prstGeom prst="ellipse">
            <a:avLst/>
          </a:prstGeom>
          <a:solidFill>
            <a:srgbClr val="B58A00"/>
          </a:solidFill>
          <a:ln/>
        </p:spPr>
      </p:sp>
      <p:sp>
        <p:nvSpPr>
          <p:cNvPr id="7" name="Text 5"/>
          <p:cNvSpPr/>
          <p:nvPr/>
        </p:nvSpPr>
        <p:spPr>
          <a:xfrm>
            <a:off x="9549079" y="100584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B58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CRECIMIENTO DE MRR (MXN)</a:t>
            </a:r>
            <a:endParaRPr lang="en-US" sz="10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2103120"/>
          <a:ext cx="6400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269480" y="2103120"/>
            <a:ext cx="191246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269480" y="2103120"/>
            <a:ext cx="91440" cy="1554480"/>
          </a:xfrm>
          <a:prstGeom prst="rect">
            <a:avLst/>
          </a:prstGeom>
          <a:solidFill>
            <a:srgbClr val="6D4AFF"/>
          </a:solidFill>
          <a:ln/>
        </p:spPr>
      </p:sp>
      <p:sp>
        <p:nvSpPr>
          <p:cNvPr id="12" name="Text 9"/>
          <p:cNvSpPr/>
          <p:nvPr/>
        </p:nvSpPr>
        <p:spPr>
          <a:xfrm>
            <a:off x="7562088" y="2304288"/>
            <a:ext cx="15009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spc="-100" kern="0" dirty="0">
                <a:solidFill>
                  <a:srgbClr val="0807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$1,512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7562088" y="3035808"/>
            <a:ext cx="1500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A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LTV por dúo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501988" y="2103120"/>
            <a:ext cx="191246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501988" y="2103120"/>
            <a:ext cx="91440" cy="1554480"/>
          </a:xfrm>
          <a:prstGeom prst="rect">
            <a:avLst/>
          </a:prstGeom>
          <a:solidFill>
            <a:srgbClr val="3AC49A"/>
          </a:solidFill>
          <a:ln/>
        </p:spPr>
      </p:sp>
      <p:sp>
        <p:nvSpPr>
          <p:cNvPr id="16" name="Text 13"/>
          <p:cNvSpPr/>
          <p:nvPr/>
        </p:nvSpPr>
        <p:spPr>
          <a:xfrm>
            <a:off x="9794596" y="2304288"/>
            <a:ext cx="15009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spc="-100" kern="0" dirty="0">
                <a:solidFill>
                  <a:srgbClr val="0807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6.0x</a:t>
            </a:r>
            <a:endParaRPr lang="en-US" sz="3100" dirty="0"/>
          </a:p>
        </p:txBody>
      </p:sp>
      <p:sp>
        <p:nvSpPr>
          <p:cNvPr id="17" name="Text 14"/>
          <p:cNvSpPr/>
          <p:nvPr/>
        </p:nvSpPr>
        <p:spPr>
          <a:xfrm>
            <a:off x="9794596" y="3035808"/>
            <a:ext cx="1500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A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LTV : CAC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269480" y="4023360"/>
            <a:ext cx="191246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269480" y="4023360"/>
            <a:ext cx="91440" cy="1554480"/>
          </a:xfrm>
          <a:prstGeom prst="rect">
            <a:avLst/>
          </a:prstGeom>
          <a:solidFill>
            <a:srgbClr val="C44AFF"/>
          </a:solidFill>
          <a:ln/>
        </p:spPr>
      </p:sp>
      <p:sp>
        <p:nvSpPr>
          <p:cNvPr id="20" name="Text 17"/>
          <p:cNvSpPr/>
          <p:nvPr/>
        </p:nvSpPr>
        <p:spPr>
          <a:xfrm>
            <a:off x="7562088" y="4224528"/>
            <a:ext cx="15009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spc="-100" kern="0" dirty="0">
                <a:solidFill>
                  <a:srgbClr val="0807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~3.3m</a:t>
            </a:r>
            <a:endParaRPr lang="en-US" sz="3100" dirty="0"/>
          </a:p>
        </p:txBody>
      </p:sp>
      <p:sp>
        <p:nvSpPr>
          <p:cNvPr id="21" name="Text 18"/>
          <p:cNvSpPr/>
          <p:nvPr/>
        </p:nvSpPr>
        <p:spPr>
          <a:xfrm>
            <a:off x="7562088" y="4956048"/>
            <a:ext cx="1500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A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Payback (meses)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501988" y="4023360"/>
            <a:ext cx="191246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501988" y="4023360"/>
            <a:ext cx="91440" cy="155448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24" name="Text 21"/>
          <p:cNvSpPr/>
          <p:nvPr/>
        </p:nvSpPr>
        <p:spPr>
          <a:xfrm>
            <a:off x="9794596" y="4224528"/>
            <a:ext cx="15009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spc="-100" kern="0" dirty="0">
                <a:solidFill>
                  <a:srgbClr val="0807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&gt;80%</a:t>
            </a:r>
            <a:endParaRPr lang="en-US" sz="3100" dirty="0"/>
          </a:p>
        </p:txBody>
      </p:sp>
      <p:sp>
        <p:nvSpPr>
          <p:cNvPr id="25" name="Text 22"/>
          <p:cNvSpPr/>
          <p:nvPr/>
        </p:nvSpPr>
        <p:spPr>
          <a:xfrm>
            <a:off x="9794596" y="4956048"/>
            <a:ext cx="1500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A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Margen bruto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6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Proyección base, no garantía. Las cifras de mercado y financieras son supuestos sujetos a validación.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77240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28" name="Shape 25"/>
          <p:cNvSpPr/>
          <p:nvPr/>
        </p:nvSpPr>
        <p:spPr>
          <a:xfrm>
            <a:off x="923544" y="6400800"/>
            <a:ext cx="91440" cy="91440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29" name="Text 26"/>
          <p:cNvSpPr/>
          <p:nvPr/>
        </p:nvSpPr>
        <p:spPr>
          <a:xfrm>
            <a:off x="1069848" y="6291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50" kern="0" dirty="0">
                <a:solidFill>
                  <a:srgbClr val="5A56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dovo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842455" y="6291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A9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apéndice · finanzas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0637215" y="6291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dovo — pitch deck (pre-seed)</dc:title>
  <dc:subject>PptxGenJS Presentation</dc:subject>
  <dc:creator>dovo</dc:creator>
  <cp:lastModifiedBy>dovo</cp:lastModifiedBy>
  <cp:revision>1</cp:revision>
  <dcterms:created xsi:type="dcterms:W3CDTF">2026-06-08T03:51:29Z</dcterms:created>
  <dcterms:modified xsi:type="dcterms:W3CDTF">2026-06-08T03:51:29Z</dcterms:modified>
</cp:coreProperties>
</file>